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73661E-BAB3-493B-B3C3-393A88411E20}" v="1" dt="2026-04-03T14:34:38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068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520440"/>
            <a:ext cx="59436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HILLSIDE PRIVATE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Husky Blue Diagnostics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Investment Analysis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 Morissette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914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72200" y="1280160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13350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1737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IRR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2176272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22311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2.2x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72200" y="2633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MOIC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3072384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31272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$98MM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35295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EV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3968496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4023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72200" y="44256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Period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097280" cy="32004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" cy="56692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0976" y="164592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Summary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189280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overview, who's selling and why, our recommendation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402336" cy="56692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04288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255117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companies and how we arrived at 8.5x entry multiple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916936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402336" cy="56692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916936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0976" y="2962656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Model Summary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3209544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Entry/exit structure, key assumptions, returns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575304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575304"/>
            <a:ext cx="402336" cy="56692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575304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" y="3621024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Drivers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0976" y="3867912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HBD works as an LBO platform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233672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233672"/>
            <a:ext cx="402336" cy="56692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233672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0976" y="4279392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0976" y="4526280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full conviction and equity vs. debt argument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1600200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1600200"/>
            <a:ext cx="402336" cy="56692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1600200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0096" y="164592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Structure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0096" y="189280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Unitranche facility, pricing, and paydown mechanics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46320" y="2258568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2258568"/>
            <a:ext cx="402336" cy="56692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2258568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0096" y="2304288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Analysis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0096" y="255117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 stress test and implications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2916936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46320" y="2916936"/>
            <a:ext cx="402336" cy="56692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2916936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40096" y="2962656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Mitigants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40096" y="3209544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how we address each one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46320" y="3575304"/>
            <a:ext cx="4206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846320" y="3575304"/>
            <a:ext cx="402336" cy="56692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46320" y="3575304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40096" y="3621024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 Questions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40096" y="3867912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still need to know before closing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DEAL SUMMARY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097280" cy="32004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Husky Blue Diagnostics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347472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SNAPSHOT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11680" y="19659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Safety Diagnostics &amp; Compliance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3408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0" y="23408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Connecticut (Tri-State footprint)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7157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Owner: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11680" y="27157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Calhoun Capital (PE, since 2018)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0906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11680" y="30906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recurring / 35% project-based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4655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Status: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11680" y="34655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global aerospace OEMs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840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History: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0" y="38404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tuck-ins completed under Calhoun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42153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Selling: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421538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hold; investment horizon reached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508760"/>
            <a:ext cx="3840480" cy="1481328"/>
          </a:xfrm>
          <a:prstGeom prst="rect">
            <a:avLst/>
          </a:prstGeom>
          <a:solidFill>
            <a:srgbClr val="1F2D3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1572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83480" y="1901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Role: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5080" y="1901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Equity Sponsor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83480" y="2176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EV: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5080" y="21762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$98MM at 8.5x EBITDA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83480" y="24505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55080" y="24505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(2025-2030)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83480" y="27249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27249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Unitranche + Sponsor Equity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3127248"/>
            <a:ext cx="1234440" cy="1078992"/>
          </a:xfrm>
          <a:prstGeom prst="rect">
            <a:avLst/>
          </a:prstGeom>
          <a:solidFill>
            <a:srgbClr val="2E405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3200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846320" y="3675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IRR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44768" y="3127248"/>
            <a:ext cx="1234440" cy="1078992"/>
          </a:xfrm>
          <a:prstGeom prst="rect">
            <a:avLst/>
          </a:prstGeom>
          <a:solidFill>
            <a:srgbClr val="2E405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44768" y="3200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2.2x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144768" y="3675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43216" y="3127248"/>
            <a:ext cx="1234440" cy="1078992"/>
          </a:xfrm>
          <a:prstGeom prst="rect">
            <a:avLst/>
          </a:prstGeom>
          <a:solidFill>
            <a:srgbClr val="2E405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43216" y="3200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$122MM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443216" y="3675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Eq.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4315968"/>
            <a:ext cx="3840480" cy="393192"/>
          </a:xfrm>
          <a:prstGeom prst="rect">
            <a:avLst/>
          </a:prstGeom>
          <a:solidFill>
            <a:srgbClr val="FFF8E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46320" y="4315968"/>
            <a:ext cx="45720" cy="3931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56048" y="4352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Risks: 2027 renewal concentration · geographic expansion execution · management retention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VALUATION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097280" cy="32004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Company Analysis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749499"/>
              </p:ext>
            </p:extLst>
          </p:nvPr>
        </p:nvGraphicFramePr>
        <p:xfrm>
          <a:off x="457200" y="1440089"/>
          <a:ext cx="8229600" cy="28803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59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431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Market Cap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 ($MM)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 / Revenue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 / EBITDA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SGS S.A.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$19,654MM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$23,112MM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World's leading TIC platform; validates HBD model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Veritas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$15,253MM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$17,287MM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TIC; testing, certification &amp; compliance 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Intertek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$10,197MM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$11,351MM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Assurance, testing &amp; certification portfolio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Mistras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$251MM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$470MM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technical comp: </a:t>
                      </a:r>
                      <a:r>
                        <a:rPr lang="en-US" sz="900" dirty="0"/>
                        <a:t>Non-Destructive Evaluation</a:t>
                      </a: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asset integrity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i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i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HBD Applied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to peers for size, region &amp; execution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310427"/>
            <a:ext cx="8229600" cy="457200"/>
          </a:xfrm>
          <a:prstGeom prst="rect">
            <a:avLst/>
          </a:prstGeom>
          <a:solidFill>
            <a:srgbClr val="1F2D3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390997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 8.5x discount multiple to $11.5MM LTM EBITDA = $98MM Entry EV  ·  Median peer is 11.5x; discount reflects smaller scale, regional concentration, and 2027 renewal risk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LBO MODEL SUMMARY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097280" cy="32004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Entry, Exit &amp; Key Assumptions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560320" cy="347472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 (2025)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6596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$98MM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295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(Unitranche)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65960" y="22951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$57.6MM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624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Leverage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65960" y="2624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5.0x EBITDA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953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Equity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65960" y="2953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$55MM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282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Multiple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65960" y="3282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8.5x EV/EBITDA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92374" y="2215134"/>
            <a:ext cx="690372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01752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0" y="15087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0" y="1508760"/>
            <a:ext cx="2560320" cy="347472"/>
          </a:xfrm>
          <a:prstGeom prst="rect">
            <a:avLst/>
          </a:prstGeom>
          <a:solidFill>
            <a:srgbClr val="005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0" y="1508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 (2030)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EBITDA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6636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$18.8MM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94760" y="2295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EV (8.5x)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66360" y="22951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$159.7MM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94760" y="2624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Debt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66360" y="2624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$37.5MM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94760" y="2953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66360" y="2953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$122.2MM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94760" y="3282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66360" y="3282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 IRR / 2.2x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46520" y="1508760"/>
            <a:ext cx="2240280" cy="2194560"/>
          </a:xfrm>
          <a:prstGeom prst="rect">
            <a:avLst/>
          </a:prstGeom>
          <a:solidFill>
            <a:srgbClr val="EDF2F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46520" y="1508760"/>
            <a:ext cx="2240280" cy="347472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46520" y="15087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37960" y="193852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growth 9% → 11% driven by renewals, expansion &amp; tuck-ins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37960" y="228600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step to 17% in Yr2 via back-office consolidation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537960" y="263347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margin 18%, settling at 17.3% at exit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37960" y="298094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mandatory amortization — 100% FCF sweeps debt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537960" y="3328416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multiple expansion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3858768"/>
            <a:ext cx="8229600" cy="384048"/>
          </a:xfrm>
          <a:prstGeom prst="rect">
            <a:avLst/>
          </a:prstGeom>
          <a:solidFill>
            <a:srgbClr val="1F2D3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39044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returns generated through EBITDA growth and debt paydown. 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VALUE DRIVERS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097280" cy="32004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HBD Works as an LBO Platform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" cy="1078992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Recurring, Legally-Mandated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revenue comes from contracts clients are legally required to maintain. Not discretionary, meaning airlines cannot fly without these certifications. Sticky, predictable, recession-resistant.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724912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54864" cy="10789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Certification Moat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status with 3 global aerospace OEMs takes years and significant capital to replicate. Smaller competitors cannot easily enter. Protects pricing power on renewals.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895344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895344"/>
            <a:ext cx="54864" cy="1078992"/>
          </a:xfrm>
          <a:prstGeom prst="rect">
            <a:avLst/>
          </a:prstGeom>
          <a:solidFill>
            <a:srgbClr val="005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Infrastructure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2793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Calhoun already built the operating model. Deploying into Mid-Atlantic and Southeast uses existing depots and technicians.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155448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554480"/>
            <a:ext cx="54864" cy="1078992"/>
          </a:xfrm>
          <a:prstGeom prst="rect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664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Industry &amp; M&amp;A Runway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19385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local labs that can't compete for Tier-1 contracts. Deep pipeline of tuck-in targets at lower multiples.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724912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2724912"/>
            <a:ext cx="54864" cy="1078992"/>
          </a:xfrm>
          <a:prstGeom prst="rect">
            <a:avLst/>
          </a:prstGeom>
          <a:solidFill>
            <a:srgbClr val="8B2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834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Renewals as Opportunity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10896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signed in 2022-23 haven't kept pace with inflation or expanded scope. Coming in as new owner creates a natural repricing moment where we can lock in higher rates and longer durations.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INVESTMENT THESIS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097280" cy="3200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Case: Take the Equity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94960" cy="1417320"/>
          </a:xfrm>
          <a:prstGeom prst="rect">
            <a:avLst/>
          </a:prstGeom>
          <a:solidFill>
            <a:srgbClr val="25354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94960" cy="347472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1062" y="1965960"/>
            <a:ext cx="5163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HBD is a strong equity investment at 8.5x as it’s backed by 65% legally-mandated recurring revenue, a Tier-1 moat, and a specific operational plan: 9-11% revenue growth from renewals and expansion, back office consolidation driving margin from 15.3% to 18%, and aggressive debt paydown.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90672"/>
            <a:ext cx="5394960" cy="1389888"/>
          </a:xfrm>
          <a:prstGeom prst="rect">
            <a:avLst/>
          </a:prstGeom>
          <a:solidFill>
            <a:srgbClr val="25354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5394960" cy="347472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EQUITY OVER DEBT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1062" y="3493008"/>
            <a:ext cx="51639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debt earns 8.1% in every scenario, including the Downside. There is no additional safety in being the lender as the debt is already covered. Our equity generates 17.3% in the Upside — more than double the debt return. 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16752" y="1554480"/>
            <a:ext cx="2834640" cy="1078992"/>
          </a:xfrm>
          <a:prstGeom prst="rect">
            <a:avLst/>
          </a:prstGeom>
          <a:solidFill>
            <a:srgbClr val="C6EFC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16752" y="1554480"/>
            <a:ext cx="2834640" cy="310896"/>
          </a:xfrm>
          <a:prstGeom prst="rect">
            <a:avLst/>
          </a:prstGeom>
          <a:solidFill>
            <a:srgbClr val="005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6752" y="15910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16752" y="1901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 IRR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34072" y="1901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2.2x MOIC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108192" y="22860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9-11% revenue growth + back office consolidation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016752" y="2743200"/>
            <a:ext cx="2834640" cy="1078992"/>
          </a:xfrm>
          <a:prstGeom prst="rect">
            <a:avLst/>
          </a:prstGeom>
          <a:solidFill>
            <a:srgbClr val="DDEBF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16752" y="2743200"/>
            <a:ext cx="2834640" cy="310896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16752" y="277977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16752" y="30906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 IRR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434072" y="30906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1.53x MOIC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108192" y="34747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projections — no additional value creation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16752" y="3931920"/>
            <a:ext cx="2834640" cy="1078992"/>
          </a:xfrm>
          <a:prstGeom prst="rect">
            <a:avLst/>
          </a:prstGeom>
          <a:solidFill>
            <a:srgbClr val="FCE4D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16752" y="3931920"/>
            <a:ext cx="2834640" cy="310896"/>
          </a:xfrm>
          <a:prstGeom prst="rect">
            <a:avLst/>
          </a:prstGeom>
          <a:solidFill>
            <a:srgbClr val="8B2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16752" y="39684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16752" y="42793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–2.9% IRR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434072" y="42793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0.86x MOIC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108192" y="46634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growth, margin compression — debt still paid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DEBT STRUCTURE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097280" cy="32004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$57.6MM Unitranche Term Loan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33787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840480" cy="347472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3291840" cy="685800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Unitranche Debt  $57.6MM  (51.2%)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3291840" cy="65836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Equity  $55.0MM  (48.8%)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547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Sources / Uses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54680" y="35478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$112.6MM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8039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Unitranche Leverage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54680" y="38039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5.0x EBITDA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0599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Refinance Existing Debt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54680" y="40599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$13.0MM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43159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Fees (1%)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5468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$0.58MM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4572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Fees (2%)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54680" y="45720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$1.1MM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80560" y="1508760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0" y="1508760"/>
            <a:ext cx="54864" cy="804672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17720" y="1618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1892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unitranche term loan means one lender, one covenant set, faster execution than traditional bank + mezz split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80560" y="2404872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0" y="2404872"/>
            <a:ext cx="54864" cy="804672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17720" y="2514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2788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 + 4.5% spread — ~8.14% all-in Yr1, stepping to ~8.0% by Yr3 as SOFR normalizes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3300984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80560" y="3300984"/>
            <a:ext cx="54864" cy="804672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17720" y="34107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17720" y="36850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mandatory amortization means 100% of free cash flow sweeps against principal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4197096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80560" y="4197096"/>
            <a:ext cx="54864" cy="804672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17720" y="43068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17720" y="458114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compresses from 5.0x at entry to 2.0x at exit; interest coverage stays above 2.7x in all scenarios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RETURNS ANALYSIS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097280" cy="32004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95217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Three-Scenario Stress Test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629939"/>
              </p:ext>
            </p:extLst>
          </p:nvPr>
        </p:nvGraphicFramePr>
        <p:xfrm>
          <a:off x="457200" y="1260479"/>
          <a:ext cx="8229600" cy="3337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Our Model (Upside)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 Case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Downside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 → 11% annually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 → 4% (mgmt proj.)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→ 2% annually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 (Exit)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 (peak 18%)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$18.8MM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$15.1MM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$12.2MM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EV (8.5x)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$159.7MM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$128.2MM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$103.4MM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at Exit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$37.5MM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$43.9MM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$56.0MM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Value at Exit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$122.2MM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$84.3MM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$47.4MM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MOIC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IRR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IRR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Leverage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Coverage (Yr5)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98039"/>
            <a:ext cx="8229600" cy="402336"/>
          </a:xfrm>
          <a:prstGeom prst="rect">
            <a:avLst/>
          </a:prstGeom>
          <a:solidFill>
            <a:srgbClr val="1F2D3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48640" y="45765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earns 8.1% regardless of outcome  ·  Equity earns 17.3% when our thesis plays out  ·  The real return is in the equity, not the coupon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RISKS &amp; MITIGANTS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097280" cy="32004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How We Address Them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60520" cy="10698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160520" cy="29260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Renewal Concentration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8836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60% of contracts expire simultaneously — top client is 12% of revenue. Poor renewals are the fastest path to Downside.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249424"/>
            <a:ext cx="388620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768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HBD's services are legally required. Switching cost is extreme. Priority post-close is entering early renewal talks.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715768"/>
            <a:ext cx="4160520" cy="10698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715768"/>
            <a:ext cx="4160520" cy="29260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7157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 Execution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0449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Revenue acceleration from Yr2 depends on Mid-Atlantic and Southeast entry. Delays or cost overruns hurt growth.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410712"/>
            <a:ext cx="388620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4381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already built. We're deploying an existing operating model, not building from scratch.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877056"/>
            <a:ext cx="4160520" cy="10698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877056"/>
            <a:ext cx="4160520" cy="29260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Retention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Key OEM relationships are person-dependent. No guarantee senior personnel stay without retention agreements.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388620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5994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PE practice: negotiate retention packages and equity rollovers at signing to align incentives.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1554480"/>
            <a:ext cx="4160520" cy="10698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1554480"/>
            <a:ext cx="4160520" cy="29260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15544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Program Certification Cyclicality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18836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35% project-based revenue tied to R&amp;D budgets. Aerospace/auto capex slowdown weakens near-term revenue.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37760" y="2249424"/>
            <a:ext cx="388620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22768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revenue is legally mandated and insulated from this. Even in a severe R&amp;D pullback, the core base is safe.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2715768"/>
            <a:ext cx="4160520" cy="10698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2715768"/>
            <a:ext cx="4160520" cy="29260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27157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Tuck-In Integration Risk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30449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Model underwrites 1-2 acquisitions. Poor selection or integration can pressure margins during a critical phase.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37760" y="3410712"/>
            <a:ext cx="388620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34381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00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Calhoun successfully integrated 5 tuck-ins. HBD has a proven playbook — reduces but doesn't eliminate risk.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ADDITIONAL DILIGENCE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097280" cy="32004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Closing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160520" cy="329184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Customer Quality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7967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of renewal talks with the 60% expiring in 2027, especially the 12% revenue client?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1625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client pipeline - any in progress from New Program Certification?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2478781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renewal rate - have you ever lost a Tier-1 client?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1363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4160520" cy="329184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&amp; M&amp;A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556259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tuck-in targets being evaluated, and typical entry multiples for regional diagnostics?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3940307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technician utilization - how much new geography can you absorb before needing new hires?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32588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46320" y="1335024"/>
            <a:ext cx="4160520" cy="329184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37760" y="132588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Sponsor Dynamics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56048" y="173796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management committed to staying, especially those managing Tier-1 OEM relationships?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31363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3145536"/>
            <a:ext cx="4160520" cy="329184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56048" y="314553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Risk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6048" y="36347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56048" y="3613243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terms on top customer: length, pricing escalators, termination clauses?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42316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HILLSIDE PRIVATE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Invest in the Equity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 IRR  ·  2.2x MOIC  ·  5-Year Hold  ·  8.5x Entry &amp; Exit Multiple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debt is already covered in every scenario. The return is in the equity.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 Morissette  ·  Hillside Private Capital  ·  HBD LBO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1565</Words>
  <Application>Microsoft Office PowerPoint</Application>
  <PresentationFormat>On-screen Show (16:9)</PresentationFormat>
  <Paragraphs>304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HBD LBO — Hillside Private Capital</dc:title>
  <dc:subject>PptxGenJS Presentation</dc:subject>
  <dc:creator>Carter Morissette</dc:creator>
  <cp:lastModifiedBy>Carter Morissette</cp:lastModifiedBy>
  <cp:revision>2</cp:revision>
  <dcterms:created xsi:type="dcterms:W3CDTF">2026-04-03T01:35:58Z</dcterms:created>
  <dcterms:modified xsi:type="dcterms:W3CDTF">2026-04-03T20:30:16Z</dcterms:modified>
</cp:coreProperties>
</file>